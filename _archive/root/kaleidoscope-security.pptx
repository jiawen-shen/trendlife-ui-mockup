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371600"/>
            <a:ext cx="6705295" cy="41148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D6FDB"/>
                </a:solidFill>
                <a:latin typeface="Inter"/>
              </a:rPr>
              <a:t>Kaleidoscope · Privacy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What does Eva actually see?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88"/>
                </a:solidFill>
                <a:latin typeface="Inter"/>
              </a:rPr>
              <a:t>The Kaleidoscope Privacy Layer sits between every family member — always.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38560" cy="9144"/>
          </a:xfrm>
          <a:prstGeom prst="rect">
            <a:avLst/>
          </a:prstGeom>
          <a:solidFill>
            <a:srgbClr val="2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508760"/>
            <a:ext cx="9144" cy="4983480"/>
          </a:xfrm>
          <a:prstGeom prst="rect">
            <a:avLst/>
          </a:prstGeom>
          <a:solidFill>
            <a:srgbClr val="2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508760"/>
            <a:ext cx="9144" cy="4983480"/>
          </a:xfrm>
          <a:prstGeom prst="rect">
            <a:avLst/>
          </a:prstGeom>
          <a:solidFill>
            <a:srgbClr val="2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2880360" cy="329184"/>
          </a:xfrm>
          <a:prstGeom prst="rect">
            <a:avLst/>
          </a:prstGeom>
          <a:solidFill>
            <a:srgbClr val="1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2880360" cy="329184"/>
          </a:xfrm>
          <a:prstGeom prst="rect">
            <a:avLst/>
          </a:prstGeom>
          <a:solidFill>
            <a:srgbClr val="1A0A14"/>
          </a:solidFill>
          <a:ln w="63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1563624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B6B"/>
                </a:solidFill>
                <a:latin typeface="Inter"/>
              </a:rPr>
              <a:t>Kids'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965960"/>
            <a:ext cx="2697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FFEE"/>
                </a:solidFill>
                <a:latin typeface="Inter"/>
              </a:rPr>
              <a:t>🎵  Yuki  ·  Age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2286000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3B30"/>
                </a:solidFill>
                <a:latin typeface="Inter"/>
              </a:rPr>
              <a:t>RAW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32888"/>
            <a:ext cx="2697479" cy="347472"/>
          </a:xfrm>
          <a:prstGeom prst="rect">
            <a:avLst/>
          </a:prstGeom>
          <a:solidFill>
            <a:srgbClr val="2A0A0E"/>
          </a:solidFill>
          <a:ln w="6350">
            <a:solidFill>
              <a:srgbClr val="66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596896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8A80"/>
                </a:solidFill>
                <a:latin typeface="Inter"/>
              </a:rPr>
              <a:t>💬  Full conversation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62656"/>
            <a:ext cx="2697479" cy="347472"/>
          </a:xfrm>
          <a:prstGeom prst="rect">
            <a:avLst/>
          </a:prstGeom>
          <a:solidFill>
            <a:srgbClr val="2A0A0E"/>
          </a:solidFill>
          <a:ln w="6350">
            <a:solidFill>
              <a:srgbClr val="66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026664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8A80"/>
                </a:solidFill>
                <a:latin typeface="Inter"/>
              </a:rPr>
              <a:t>📍  Real-time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92424"/>
            <a:ext cx="2697479" cy="347472"/>
          </a:xfrm>
          <a:prstGeom prst="rect">
            <a:avLst/>
          </a:prstGeom>
          <a:solidFill>
            <a:srgbClr val="2A0A0E"/>
          </a:solidFill>
          <a:ln w="6350">
            <a:solidFill>
              <a:srgbClr val="66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345643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8A80"/>
                </a:solidFill>
                <a:latin typeface="Inter"/>
              </a:rPr>
              <a:t>🏥  Health &amp; mood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22191"/>
            <a:ext cx="2697479" cy="347472"/>
          </a:xfrm>
          <a:prstGeom prst="rect">
            <a:avLst/>
          </a:prstGeom>
          <a:solidFill>
            <a:srgbClr val="2A0A0E"/>
          </a:solidFill>
          <a:ln w="6350">
            <a:solidFill>
              <a:srgbClr val="66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88620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8A80"/>
                </a:solidFill>
                <a:latin typeface="Inter"/>
              </a:rPr>
              <a:t>🆔  Personal identifiers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508760"/>
            <a:ext cx="4572000" cy="4983480"/>
          </a:xfrm>
          <a:prstGeom prst="rect">
            <a:avLst/>
          </a:prstGeom>
          <a:solidFill>
            <a:srgbClr val="0F082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7" y="163677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6EFF"/>
                </a:solidFill>
                <a:latin typeface="Inter"/>
              </a:rPr>
              <a:t>◈  Kaleidoscope Privacy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4231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3366"/>
                </a:solidFill>
                <a:latin typeface="Inter"/>
              </a:rPr>
              <a:t>——————→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36829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3366"/>
                </a:solidFill>
                <a:latin typeface="Inter"/>
              </a:rPr>
              <a:t>raw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4231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6B3A"/>
                </a:solidFill>
                <a:latin typeface="Inter"/>
              </a:rPr>
              <a:t>——————→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682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D6B3A"/>
                </a:solidFill>
                <a:latin typeface="Inter"/>
              </a:rPr>
              <a:t>summary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67911" y="2020824"/>
            <a:ext cx="4242816" cy="1261872"/>
          </a:xfrm>
          <a:prstGeom prst="rect">
            <a:avLst/>
          </a:prstGeom>
          <a:solidFill>
            <a:srgbClr val="2A0A08"/>
          </a:solidFill>
          <a:ln w="7620">
            <a:solidFill>
              <a:srgbClr val="66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59352" y="2148840"/>
            <a:ext cx="274320" cy="274320"/>
          </a:xfrm>
          <a:prstGeom prst="rect">
            <a:avLst/>
          </a:prstGeom>
          <a:solidFill>
            <a:srgbClr val="2A0A08"/>
          </a:solidFill>
          <a:ln w="10160">
            <a:solidFill>
              <a:srgbClr val="FF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C52"/>
                </a:solidFill>
                <a:latin typeface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21396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0F0FF"/>
                </a:solidFill>
                <a:latin typeface="Inter"/>
              </a:rPr>
              <a:t>Desensitize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9352" y="247802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Inter"/>
              </a:rPr>
              <a:t>Names, locations, health data &amp; identifiers are stripped before any AI model processes the input.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67911" y="3429000"/>
            <a:ext cx="4242816" cy="1261872"/>
          </a:xfrm>
          <a:prstGeom prst="rect">
            <a:avLst/>
          </a:prstGeom>
          <a:solidFill>
            <a:srgbClr val="211500"/>
          </a:solidFill>
          <a:ln w="7620">
            <a:solidFill>
              <a:srgbClr val="5A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59352" y="3557016"/>
            <a:ext cx="274320" cy="274320"/>
          </a:xfrm>
          <a:prstGeom prst="rect">
            <a:avLst/>
          </a:prstGeom>
          <a:solidFill>
            <a:srgbClr val="211500"/>
          </a:solidFill>
          <a:ln w="10160">
            <a:solidFill>
              <a:srgbClr val="FBC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9352" y="35570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C350"/>
                </a:solidFill>
                <a:latin typeface="Inter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5478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0F0FF"/>
                </a:solidFill>
                <a:latin typeface="Inter"/>
              </a:rPr>
              <a:t>Filter to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9352" y="3886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Inter"/>
              </a:rPr>
              <a:t>Only high-level insights pass through to parents. Full conversations and raw context stay private.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67911" y="4837176"/>
            <a:ext cx="4242816" cy="1261872"/>
          </a:xfrm>
          <a:prstGeom prst="rect">
            <a:avLst/>
          </a:prstGeom>
          <a:solidFill>
            <a:srgbClr val="0A1F0F"/>
          </a:solidFill>
          <a:ln w="7620">
            <a:solidFill>
              <a:srgbClr val="1A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59352" y="4965192"/>
            <a:ext cx="274320" cy="274320"/>
          </a:xfrm>
          <a:prstGeom prst="rect">
            <a:avLst/>
          </a:prstGeom>
          <a:solidFill>
            <a:srgbClr val="0A1F0F"/>
          </a:solidFill>
          <a:ln w="10160">
            <a:solidFill>
              <a:srgbClr val="5BE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9352" y="49651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BE891"/>
                </a:solidFill>
                <a:latin typeface="Inter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495604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0F0FF"/>
                </a:solidFill>
                <a:latin typeface="Inter"/>
              </a:rPr>
              <a:t>Vault 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9352" y="5294376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Inter"/>
              </a:rPr>
              <a:t>Each member's long-term memory is independently isolated — no cross-member access, no external exposure.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1080" y="1508760"/>
            <a:ext cx="3154680" cy="329184"/>
          </a:xfrm>
          <a:prstGeom prst="rect">
            <a:avLst/>
          </a:prstGeom>
          <a:solidFill>
            <a:srgbClr val="0A1F10"/>
          </a:solidFill>
          <a:ln w="6350">
            <a:solidFill>
              <a:srgbClr val="2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9096" y="1563624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E891"/>
                </a:solidFill>
                <a:latin typeface="Inter"/>
              </a:rPr>
              <a:t>Parents' 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9096" y="19659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87A"/>
                </a:solidFill>
                <a:latin typeface="Inter"/>
              </a:rPr>
              <a:t>👩  Eva  ·  Mom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9096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E891"/>
                </a:solidFill>
                <a:latin typeface="Inter"/>
              </a:rPr>
              <a:t>WHAT SHE RECEIVES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19" y="2532888"/>
            <a:ext cx="2971800" cy="329184"/>
          </a:xfrm>
          <a:prstGeom prst="rect">
            <a:avLst/>
          </a:prstGeom>
          <a:solidFill>
            <a:srgbClr val="0A1F10"/>
          </a:solidFill>
          <a:ln w="6350">
            <a:solidFill>
              <a:srgbClr val="1A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59" y="258775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EAA0"/>
                </a:solidFill>
                <a:latin typeface="Inter"/>
              </a:rPr>
              <a:t>✓  "Yuki: +15% critical thinking"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19" y="2935224"/>
            <a:ext cx="2971800" cy="329184"/>
          </a:xfrm>
          <a:prstGeom prst="rect">
            <a:avLst/>
          </a:prstGeom>
          <a:solidFill>
            <a:srgbClr val="0A1F10"/>
          </a:solidFill>
          <a:ln w="6350">
            <a:solidFill>
              <a:srgbClr val="1A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23959" y="299008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EAA0"/>
                </a:solidFill>
                <a:latin typeface="Inter"/>
              </a:rPr>
              <a:t>✓  Creative output summary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19" y="3337560"/>
            <a:ext cx="2971800" cy="329184"/>
          </a:xfrm>
          <a:prstGeom prst="rect">
            <a:avLst/>
          </a:prstGeom>
          <a:solidFill>
            <a:srgbClr val="0A1F10"/>
          </a:solidFill>
          <a:ln w="6350">
            <a:solidFill>
              <a:srgbClr val="1A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59" y="339242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EAA0"/>
                </a:solidFill>
                <a:latin typeface="Inter"/>
              </a:rPr>
              <a:t>✓  Safety alerts (if triggered)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32519" y="3831335"/>
            <a:ext cx="297180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23959" y="3886199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Inter"/>
              </a:rPr>
              <a:t>✗  Full conversation 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32519" y="4233672"/>
            <a:ext cx="297180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23959" y="42885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Inter"/>
              </a:rPr>
              <a:t>✗  Location 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32519" y="4636008"/>
            <a:ext cx="297180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23959" y="46908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Inter"/>
              </a:rPr>
              <a:t>✗  Raw health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D3350"/>
                </a:solidFill>
                <a:latin typeface="Inter"/>
              </a:rPr>
              <a:t>🔒  Each family member has an independently vaulted memory  ·  No cross-access  ·  No external exposure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