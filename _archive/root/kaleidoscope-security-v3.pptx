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7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70000"/>
                </a:solidFill>
                <a:latin typeface="Arial"/>
              </a:rPr>
              <a:t>Designed Around Your Family's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76656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Arial"/>
              </a:rPr>
              <a:t>Three layers of protection — built into every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6492240" cy="5394960"/>
          </a:xfrm>
          <a:prstGeom prst="rect">
            <a:avLst/>
          </a:prstGeom>
          <a:solidFill>
            <a:srgbClr val="FAFAFA"/>
          </a:solidFill>
          <a:ln w="19050">
            <a:solidFill>
              <a:srgbClr val="BB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6492240" cy="402336"/>
          </a:xfrm>
          <a:prstGeom prst="rect">
            <a:avLst/>
          </a:prstGeom>
          <a:solidFill>
            <a:srgbClr val="F0EAF8"/>
          </a:solidFill>
          <a:ln>
            <a:solidFill>
              <a:srgbClr val="BB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40AA"/>
                </a:solidFill>
                <a:latin typeface="Arial"/>
              </a:rPr>
              <a:t>◈  Kaleidoscope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" y="1682495"/>
            <a:ext cx="59801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Family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79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rial"/>
              </a:rPr>
              <a:t>Shared across the family — schedules, preferences, routines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84264" y="1920239"/>
            <a:ext cx="128016" cy="128016"/>
          </a:xfrm>
          <a:prstGeom prst="rect">
            <a:avLst/>
          </a:prstGeom>
          <a:solidFill>
            <a:srgbClr val="1E6FCC"/>
          </a:solidFill>
          <a:ln>
            <a:solidFill>
              <a:srgbClr val="1E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45059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Arial"/>
              </a:rPr>
              <a:t>Individual 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651760"/>
            <a:ext cx="1440179" cy="731520"/>
          </a:xfrm>
          <a:prstGeom prst="rect">
            <a:avLst/>
          </a:prstGeom>
          <a:solidFill>
            <a:srgbClr val="FFF0F0"/>
          </a:solidFill>
          <a:ln w="9525">
            <a:solidFill>
              <a:srgbClr val="F5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68833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2724912"/>
            <a:ext cx="9098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33333"/>
                </a:solidFill>
                <a:latin typeface="Arial"/>
              </a:rPr>
              <a:t>Eva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999232"/>
            <a:ext cx="12572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6666"/>
                </a:solidFill>
                <a:latin typeface="Arial"/>
              </a:rPr>
              <a:t>Summary
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80844" y="2651760"/>
            <a:ext cx="1440179" cy="731520"/>
          </a:xfrm>
          <a:prstGeom prst="rect">
            <a:avLst/>
          </a:prstGeom>
          <a:solidFill>
            <a:srgbClr val="FFF0F0"/>
          </a:solidFill>
          <a:ln w="9525">
            <a:solidFill>
              <a:srgbClr val="F5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72284" y="268833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9756" y="2724912"/>
            <a:ext cx="9098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33333"/>
                </a:solidFill>
                <a:latin typeface="Arial"/>
              </a:rPr>
              <a:t>Kenji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2284" y="2999232"/>
            <a:ext cx="12572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6666"/>
                </a:solidFill>
                <a:latin typeface="Arial"/>
              </a:rPr>
              <a:t>Summary
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94175" y="2651760"/>
            <a:ext cx="1440179" cy="731520"/>
          </a:xfrm>
          <a:prstGeom prst="rect">
            <a:avLst/>
          </a:prstGeom>
          <a:solidFill>
            <a:srgbClr val="FFF0F0"/>
          </a:solidFill>
          <a:ln w="9525">
            <a:solidFill>
              <a:srgbClr val="F5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268833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724912"/>
            <a:ext cx="9098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33333"/>
                </a:solidFill>
                <a:latin typeface="Arial"/>
              </a:rPr>
              <a:t>Yuki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2999232"/>
            <a:ext cx="12572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6666"/>
                </a:solidFill>
                <a:latin typeface="Arial"/>
              </a:rPr>
              <a:t>Summary
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07508" y="2651760"/>
            <a:ext cx="1440179" cy="731520"/>
          </a:xfrm>
          <a:prstGeom prst="rect">
            <a:avLst/>
          </a:prstGeom>
          <a:solidFill>
            <a:srgbClr val="FFF0F0"/>
          </a:solidFill>
          <a:ln w="9525">
            <a:solidFill>
              <a:srgbClr val="F5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8948" y="2688336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"/>
              </a:rPr>
              <a:t>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6420" y="2724912"/>
            <a:ext cx="9098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33333"/>
                </a:solidFill>
                <a:latin typeface="Arial"/>
              </a:rPr>
              <a:t>Hiro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8948" y="2999232"/>
            <a:ext cx="12572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6666"/>
                </a:solidFill>
                <a:latin typeface="Arial"/>
              </a:rPr>
              <a:t>Summary
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2953512"/>
            <a:ext cx="128016" cy="128016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5112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Arial"/>
              </a:rPr>
              <a:t>Private  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" y="3712463"/>
            <a:ext cx="1440179" cy="768096"/>
          </a:xfrm>
          <a:prstGeom prst="rect">
            <a:avLst/>
          </a:prstGeom>
          <a:solidFill>
            <a:srgbClr val="FFE8E8"/>
          </a:solidFill>
          <a:ln w="9525">
            <a:solidFill>
              <a:srgbClr val="FF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74903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"/>
              </a:rP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" y="3785615"/>
            <a:ext cx="9281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4444"/>
                </a:solidFill>
                <a:latin typeface="Arial"/>
              </a:rPr>
              <a:t>Private
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133087"/>
            <a:ext cx="12572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7777"/>
                </a:solidFill>
                <a:latin typeface="Arial"/>
              </a:rPr>
              <a:t>Not shared
with anyone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80844" y="3712463"/>
            <a:ext cx="1440179" cy="768096"/>
          </a:xfrm>
          <a:prstGeom prst="rect">
            <a:avLst/>
          </a:prstGeom>
          <a:solidFill>
            <a:srgbClr val="FFE8E8"/>
          </a:solidFill>
          <a:ln w="9525">
            <a:solidFill>
              <a:srgbClr val="FF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72284" y="374903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"/>
              </a:rPr>
              <a:t>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1468" y="3785615"/>
            <a:ext cx="9281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4444"/>
                </a:solidFill>
                <a:latin typeface="Arial"/>
              </a:rPr>
              <a:t>Private
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2284" y="4133087"/>
            <a:ext cx="12572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7777"/>
                </a:solidFill>
                <a:latin typeface="Arial"/>
              </a:rPr>
              <a:t>Not shared
with anyone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94175" y="3712463"/>
            <a:ext cx="1440179" cy="768096"/>
          </a:xfrm>
          <a:prstGeom prst="rect">
            <a:avLst/>
          </a:prstGeom>
          <a:solidFill>
            <a:srgbClr val="FFE8E8"/>
          </a:solidFill>
          <a:ln w="9525">
            <a:solidFill>
              <a:srgbClr val="FF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5615" y="374903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"/>
              </a:rPr>
              <a:t>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9" y="3785615"/>
            <a:ext cx="9281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4444"/>
                </a:solidFill>
                <a:latin typeface="Arial"/>
              </a:rPr>
              <a:t>Private
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5615" y="4133087"/>
            <a:ext cx="12572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7777"/>
                </a:solidFill>
                <a:latin typeface="Arial"/>
              </a:rPr>
              <a:t>Not shared
with anyone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07508" y="3712463"/>
            <a:ext cx="1440179" cy="768096"/>
          </a:xfrm>
          <a:prstGeom prst="rect">
            <a:avLst/>
          </a:prstGeom>
          <a:solidFill>
            <a:srgbClr val="FFE8E8"/>
          </a:solidFill>
          <a:ln w="9525">
            <a:solidFill>
              <a:srgbClr val="FF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98948" y="3749039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"/>
              </a:rPr>
              <a:t>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8132" y="3785615"/>
            <a:ext cx="9281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4444"/>
                </a:solidFill>
                <a:latin typeface="Arial"/>
              </a:rPr>
              <a:t>Private
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8948" y="4133087"/>
            <a:ext cx="12572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7777"/>
                </a:solidFill>
                <a:latin typeface="Arial"/>
              </a:rPr>
              <a:t>Not shared
with anyone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84264" y="4023359"/>
            <a:ext cx="128016" cy="128016"/>
          </a:xfrm>
          <a:prstGeom prst="rect">
            <a:avLst/>
          </a:prstGeom>
          <a:solidFill>
            <a:srgbClr val="D70000"/>
          </a:solidFill>
          <a:ln>
            <a:solidFill>
              <a:srgbClr val="D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6434" y="46817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2222"/>
                </a:solidFill>
                <a:latin typeface="Arial"/>
              </a:rPr>
              <a:t>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" y="5047488"/>
            <a:ext cx="1440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Eva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9765" y="46817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2222"/>
                </a:solidFill>
                <a:latin typeface="Arial"/>
              </a:rPr>
              <a:t>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80844" y="5047488"/>
            <a:ext cx="1440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Kenji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3097" y="46817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2222"/>
                </a:solidFill>
                <a:latin typeface="Arial"/>
              </a:rPr>
              <a:t>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4175" y="5047488"/>
            <a:ext cx="1440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Yuki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26430" y="46817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2222"/>
                </a:solidFill>
                <a:latin typeface="Arial"/>
              </a:rPr>
              <a:t>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07508" y="5047488"/>
            <a:ext cx="14401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Arial"/>
              </a:rPr>
              <a:t>Hiro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6089904"/>
            <a:ext cx="6492240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61813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BBBBB"/>
                </a:solidFill>
                <a:latin typeface="Arial"/>
              </a:rPr>
              <a:t>⊘  Outside world — no access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80" y="4078224"/>
            <a:ext cx="594360" cy="18288"/>
          </a:xfrm>
          <a:prstGeom prst="rect">
            <a:avLst/>
          </a:prstGeom>
          <a:solidFill>
            <a:srgbClr val="D70000"/>
          </a:solidFill>
          <a:ln>
            <a:solidFill>
              <a:srgbClr val="D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23760" y="1389888"/>
            <a:ext cx="347472" cy="347472"/>
          </a:xfrm>
          <a:prstGeom prst="rect">
            <a:avLst/>
          </a:prstGeom>
          <a:solidFill>
            <a:srgbClr val="D70000"/>
          </a:solidFill>
          <a:ln>
            <a:solidFill>
              <a:srgbClr val="D7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23760" y="13898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1353312"/>
            <a:ext cx="4023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Kids keep their privacy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1938528"/>
            <a:ext cx="4023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Private conversations stay with the individual. No one else — not even parents — can access the full content.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2816352"/>
            <a:ext cx="4526280" cy="16459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812280" y="3008376"/>
            <a:ext cx="594360" cy="182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23760" y="2852928"/>
            <a:ext cx="347472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23760" y="28529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0" y="2816352"/>
            <a:ext cx="4023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Parents stay informed,
not intrusive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0" y="3401568"/>
            <a:ext cx="4023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Parents receive AI-curated summaries — whether a child is learning well or needs attention. The full story stays private.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23760" y="4279392"/>
            <a:ext cx="4526280" cy="16459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12280" y="1975103"/>
            <a:ext cx="594360" cy="18288"/>
          </a:xfrm>
          <a:prstGeom prst="rect">
            <a:avLst/>
          </a:prstGeom>
          <a:solidFill>
            <a:srgbClr val="1E6FCC"/>
          </a:solidFill>
          <a:ln>
            <a:solidFill>
              <a:srgbClr val="1E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223760" y="4315968"/>
            <a:ext cx="347472" cy="347472"/>
          </a:xfrm>
          <a:prstGeom prst="rect">
            <a:avLst/>
          </a:prstGeom>
          <a:solidFill>
            <a:srgbClr val="1E6FCC"/>
          </a:solidFill>
          <a:ln>
            <a:solidFill>
              <a:srgbClr val="1E6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60" y="4315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80960" y="4279392"/>
            <a:ext cx="40233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Your family's data
belongs only to you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0" y="4864607"/>
            <a:ext cx="40233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Personal details are masked before any AI processing. Data is never shared across families or used to train AI models.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23760" y="5742431"/>
            <a:ext cx="4526280" cy="16459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6647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Arial"/>
              </a:rPr>
              <a:t>© 2025 Trend Micro Inc.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20" y="664768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0000"/>
                </a:solidFill>
                <a:latin typeface="Arial"/>
              </a:rPr>
              <a:t>⬤ TRENDLIFE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